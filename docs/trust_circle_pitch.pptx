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0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4869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TcBg" Type="http://schemas.openxmlformats.org/officeDocument/2006/relationships/image" Target="../media/tc-bg.png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TcBg" Type="http://schemas.openxmlformats.org/officeDocument/2006/relationships/image" Target="../media/tc-bg.png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TcBg" Type="http://schemas.openxmlformats.org/officeDocument/2006/relationships/image" Target="../media/tc-bg.png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TcBg" Type="http://schemas.openxmlformats.org/officeDocument/2006/relationships/image" Target="../media/tc-bg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TcBg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0" dirty="0">
                <a:solidFill>
                  <a:srgbClr val="FFFFFF"/>
                </a:solidFill>
                <a:latin typeface="Calibri Light" pitchFamily="34" charset="0"/>
                <a:ea typeface="Calibri" pitchFamily="34" charset="-122"/>
                <a:cs typeface="Calibri" pitchFamily="34" charset="-120"/>
              </a:rPr>
              <a:t>Trust Circle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860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tontine internationale, comme si la famille partageait la même monnaie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spc="300">
                <a:solidFill>
                  <a:srgbClr val="8E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 · Soroban · USDC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TcBg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E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frères et sœurs, cinq continents, une tontine : 100 $ chacun, chaque mois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9FDCF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02920" y="1508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E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100 $ / mois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48840" y="150876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9FDCF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2148840" y="1508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E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100 $ / mois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94760" y="150876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9FDCF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3794760" y="1508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E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100 $ / mois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40680" y="150876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9FDCF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5440680" y="1508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Montréal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E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100 $ / mois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86600" y="150876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9FDCF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7086600" y="1508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E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100 $ / mois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74320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9FDCF5">
              <a:alpha val="10000"/>
            </a:srgbClr>
          </a:solidFill>
          <a:ln w="12700">
            <a:solidFill>
              <a:srgbClr val="9FDC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502920" y="274320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Monnaies différentes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E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EUR, NGN, BRL, CAD, JPY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274320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9FDCF5">
              <a:alpha val="10000"/>
            </a:srgbClr>
          </a:solidFill>
          <a:ln w="12700">
            <a:solidFill>
              <a:srgbClr val="9FDC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3246120" y="274320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de transfert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E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envoi coûte cher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89320" y="274320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9FDCF5">
              <a:alpha val="10000"/>
            </a:srgbClr>
          </a:solidFill>
          <a:ln w="12700">
            <a:solidFill>
              <a:srgbClr val="9FDC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5989320" y="274320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change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E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 de garantir la même valeur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D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être sûr que chacun apporte et reçoit la même valeur 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TcBg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9FDCF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· Paris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0" y="1463040"/>
            <a:ext cx="1737360" cy="1280160"/>
          </a:xfrm>
          <a:prstGeom prst="line">
            <a:avLst/>
          </a:prstGeom>
          <a:noFill/>
          <a:ln w="19050">
            <a:solidFill>
              <a:srgbClr val="9FDCF5">
                <a:alpha val="5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9FDCF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NGN · Lagos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0" y="2194560"/>
            <a:ext cx="1737360" cy="548640"/>
          </a:xfrm>
          <a:prstGeom prst="line">
            <a:avLst/>
          </a:prstGeom>
          <a:noFill/>
          <a:ln w="19050">
            <a:solidFill>
              <a:srgbClr val="9FDCF5">
                <a:alpha val="5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9FDCF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54864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JPY · Tokyo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V="1">
            <a:off x="1828800" y="2743200"/>
            <a:ext cx="1737360" cy="182880"/>
          </a:xfrm>
          <a:prstGeom prst="line">
            <a:avLst/>
          </a:prstGeom>
          <a:noFill/>
          <a:ln w="19050">
            <a:solidFill>
              <a:srgbClr val="9FDCF5">
                <a:alpha val="5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9FDCF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548640" y="3383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· Montréal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1828800" y="2743200"/>
            <a:ext cx="1737360" cy="914400"/>
          </a:xfrm>
          <a:prstGeom prst="line">
            <a:avLst/>
          </a:prstGeom>
          <a:noFill/>
          <a:ln w="19050">
            <a:solidFill>
              <a:srgbClr val="9FDCF5">
                <a:alpha val="5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11880" y="2103120"/>
            <a:ext cx="1280160" cy="1280160"/>
          </a:xfrm>
          <a:prstGeom prst="ellipse">
            <a:avLst/>
          </a:prstGeom>
          <a:solidFill>
            <a:srgbClr val="9FDCF5"/>
          </a:solidFill>
          <a:ln w="12700">
            <a:solidFill>
              <a:srgbClr val="9FDC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3611880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892040" y="2743200"/>
            <a:ext cx="594360" cy="0"/>
          </a:xfrm>
          <a:prstGeom prst="line">
            <a:avLst/>
          </a:prstGeom>
          <a:noFill/>
          <a:ln w="19050">
            <a:solidFill>
              <a:srgbClr val="9FDCF5">
                <a:alpha val="5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486400" y="2423160"/>
            <a:ext cx="1097280" cy="640080"/>
          </a:xfrm>
          <a:prstGeom prst="roundRect">
            <a:avLst>
              <a:gd name="adj" fmla="val 14286"/>
            </a:avLst>
          </a:prstGeom>
          <a:solidFill>
            <a:srgbClr val="0A1838"/>
          </a:solidFill>
          <a:ln w="12700">
            <a:solidFill>
              <a:srgbClr val="9FDCF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5486400" y="24231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500 $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83680" y="2743200"/>
            <a:ext cx="548640" cy="0"/>
          </a:xfrm>
          <a:prstGeom prst="line">
            <a:avLst/>
          </a:prstGeom>
          <a:noFill/>
          <a:ln w="19050">
            <a:solidFill>
              <a:srgbClr val="9FDCF5">
                <a:alpha val="55000"/>
              </a:srgbClr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7132320" y="242316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9FDCF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7132320" y="2423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BRL · São Paulo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EA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verse 100 $ dans sa monnaie locale ; la cagnotte est centralisée en USDC ; le bénéficiaire reçoit 500 $ dans sa monnaie.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TcBg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D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Stellar 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7764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9FDCF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3977640" cy="1737360"/>
          </a:xfrm>
          <a:prstGeom prst="rect">
            <a:avLst/>
          </a:prstGeom>
          <a:noFill/>
          <a:ln/>
        </p:spPr>
        <p:txBody>
          <a:bodyPr wrap="square" lIns="228600" tIns="274320" rIns="228600" bIns="9144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9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Stellar</a:t>
            </a:r>
            <a:endParaRPr lang="en-US" sz="14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ED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nativement les conversions entre actifs grâce aux path payments : il trouve le chemin entre les monnaies.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1188720"/>
            <a:ext cx="397764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9FDCF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4663440" y="1188720"/>
            <a:ext cx="3977640" cy="1737360"/>
          </a:xfrm>
          <a:prstGeom prst="rect">
            <a:avLst/>
          </a:prstGeom>
          <a:noFill/>
          <a:ln/>
        </p:spPr>
        <p:txBody>
          <a:bodyPr wrap="square" lIns="228600" tIns="274320" rIns="228600" bIns="9144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9F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Soroban</a:t>
            </a:r>
            <a:endParaRPr lang="en-US" sz="14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ED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smart contract se concentre uniquement sur la logique de la tontine.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architecture simple et transparente.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3749040"/>
            <a:ext cx="8138160" cy="822960"/>
          </a:xfrm>
          <a:prstGeom prst="roundRect">
            <a:avLst>
              <a:gd name="adj" fmla="val 11111"/>
            </a:avLst>
          </a:prstGeom>
          <a:solidFill>
            <a:srgbClr val="0A1838"/>
          </a:solidFill>
          <a:ln w="12700">
            <a:solidFill>
              <a:srgbClr val="9FDCF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502920" y="37490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suivante : les anchors relient les actifs numériques aux monnaies locales et aux comptes bancaires.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213</Words>
  <Application>Microsoft Office PowerPoint</Application>
  <PresentationFormat>Affichage à l'écran (16:9)</PresentationFormat>
  <Paragraphs>42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Meyssa Helal</cp:lastModifiedBy>
  <cp:revision>2</cp:revision>
  <dcterms:created xsi:type="dcterms:W3CDTF">2026-09-30T16:07:15Z</dcterms:created>
  <dcterms:modified xsi:type="dcterms:W3CDTF">2026-09-30T16:16:04Z</dcterms:modified>
</cp:coreProperties>
</file>